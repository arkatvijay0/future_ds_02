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CUSTOMER CHURN ANALYSIS &amp;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Data Analytics Project</a:t>
            </a:r>
          </a:p>
          <a:p>
            <a:pPr>
              <a:spcAft>
                <a:spcPts val="1000"/>
              </a:spcAft>
              <a:defRPr sz="2200"/>
            </a:pPr>
            <a:r>
              <a:t>Microsoft Excel | KPI Analysis | Data Visualization</a:t>
            </a:r>
          </a:p>
          <a:p>
            <a:pPr>
              <a:spcAft>
                <a:spcPts val="1000"/>
              </a:spcAft>
              <a:defRPr sz="2200"/>
            </a:pPr>
            <a:r>
              <a:t>Prepared by Vijay Kumar A 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Analyze customer churn and related business activity.</a:t>
            </a:r>
          </a:p>
          <a:p>
            <a:pPr>
              <a:spcAft>
                <a:spcPts val="1000"/>
              </a:spcAft>
              <a:defRPr sz="2000"/>
            </a:pPr>
            <a:r>
              <a:t>Calculate customer, subscription, support, and churn KPIs.</a:t>
            </a:r>
          </a:p>
          <a:p>
            <a:pPr>
              <a:spcAft>
                <a:spcPts val="1000"/>
              </a:spcAft>
              <a:defRPr sz="2000"/>
            </a:pPr>
            <a:r>
              <a:t>Identify churn patterns across business segments.</a:t>
            </a:r>
          </a:p>
          <a:p>
            <a:pPr>
              <a:spcAft>
                <a:spcPts val="1000"/>
              </a:spcAft>
              <a:defRPr sz="2000"/>
            </a:pPr>
            <a:r>
              <a:t>Build a professional Excel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Measure overall customer churn.</a:t>
            </a:r>
          </a:p>
          <a:p>
            <a:pPr>
              <a:spcAft>
                <a:spcPts val="1000"/>
              </a:spcAft>
              <a:defRPr sz="2000"/>
            </a:pPr>
            <a:r>
              <a:t>Compare churn by industry, country, plan, trial status, and referral source.</a:t>
            </a:r>
          </a:p>
          <a:p>
            <a:pPr>
              <a:spcAft>
                <a:spcPts val="1000"/>
              </a:spcAft>
              <a:defRPr sz="2000"/>
            </a:pPr>
            <a:r>
              <a:t>Analyze support-ticket performance and escalation.</a:t>
            </a:r>
          </a:p>
          <a:p>
            <a:pPr>
              <a:spcAft>
                <a:spcPts val="1000"/>
              </a:spcAft>
              <a:defRPr sz="2000"/>
            </a:pPr>
            <a:r>
              <a:t>Summarize churn reasons and refunds.</a:t>
            </a:r>
          </a:p>
          <a:p>
            <a:pPr>
              <a:spcAft>
                <a:spcPts val="1000"/>
              </a:spcAft>
              <a:defRPr sz="2000"/>
            </a:pPr>
            <a:r>
              <a:t>Communicate findings through a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Tools &amp; Analysis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Microsoft Excel</a:t>
            </a:r>
          </a:p>
          <a:p>
            <a:pPr>
              <a:spcAft>
                <a:spcPts val="1000"/>
              </a:spcAft>
              <a:defRPr sz="2000"/>
            </a:pPr>
            <a:r>
              <a:t>Excel formulas and aggregation</a:t>
            </a:r>
          </a:p>
          <a:p>
            <a:pPr>
              <a:spcAft>
                <a:spcPts val="1000"/>
              </a:spcAft>
              <a:defRPr sz="2000"/>
            </a:pPr>
            <a:r>
              <a:t>Data analysis and KPI calculation</a:t>
            </a:r>
          </a:p>
          <a:p>
            <a:pPr>
              <a:spcAft>
                <a:spcPts val="1000"/>
              </a:spcAft>
              <a:defRPr sz="2000"/>
            </a:pPr>
            <a:r>
              <a:t>Charts and dashboard design</a:t>
            </a:r>
          </a:p>
          <a:p>
            <a:pPr>
              <a:spcAft>
                <a:spcPts val="1000"/>
              </a:spcAft>
              <a:defRPr sz="2000"/>
            </a:pPr>
            <a:r>
              <a:t>Accounts, Subscriptions, Feature Usage, Support Tickets, Churn Events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Key Performance Indicators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251460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Total Customers</a:t>
            </a:r>
          </a:p>
          <a:p>
            <a:pPr algn="ctr">
              <a:defRPr sz="2100" b="1"/>
            </a:pPr>
            <a:r>
              <a:t>500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325880"/>
            <a:ext cx="251460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Churn Rate</a:t>
            </a:r>
          </a:p>
          <a:p>
            <a:pPr algn="ctr">
              <a:defRPr sz="2100" b="1"/>
            </a:pPr>
            <a:r>
              <a:t>22%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251460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Total MRR</a:t>
            </a:r>
          </a:p>
          <a:p>
            <a:pPr algn="ctr">
              <a:defRPr sz="2100" b="1"/>
            </a:pPr>
            <a:r>
              <a:t>11,338,747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325880"/>
            <a:ext cx="251460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Total ARR</a:t>
            </a:r>
          </a:p>
          <a:p>
            <a:pPr algn="ctr">
              <a:defRPr sz="2100" b="1"/>
            </a:pPr>
            <a:r>
              <a:t>136,064,964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29000"/>
            <a:ext cx="251460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Support Tickets</a:t>
            </a:r>
          </a:p>
          <a:p>
            <a:pPr algn="ctr">
              <a:defRPr sz="2100" b="1"/>
            </a:pPr>
            <a:r>
              <a:t>2,000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429000"/>
            <a:ext cx="251460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Avg Satisfaction</a:t>
            </a:r>
          </a:p>
          <a:p>
            <a:pPr algn="ctr">
              <a:defRPr sz="2100" b="1"/>
            </a:pPr>
            <a:r>
              <a:t>3.98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429000"/>
            <a:ext cx="251460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Churn Events</a:t>
            </a:r>
          </a:p>
          <a:p>
            <a:pPr algn="ctr">
              <a:defRPr sz="2100" b="1"/>
            </a:pPr>
            <a:r>
              <a:t>600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3429000"/>
            <a:ext cx="251460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Total Refunds</a:t>
            </a:r>
          </a:p>
          <a:p>
            <a:pPr algn="ctr">
              <a:defRPr sz="2100" b="1"/>
            </a:pPr>
            <a:r>
              <a:t>8,652.25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Dashboard 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Churn Rate by Industry</a:t>
            </a:r>
          </a:p>
          <a:p>
            <a:pPr>
              <a:spcAft>
                <a:spcPts val="1000"/>
              </a:spcAft>
              <a:defRPr sz="2000"/>
            </a:pPr>
            <a:r>
              <a:t>Churn Rate by Country</a:t>
            </a:r>
          </a:p>
          <a:p>
            <a:pPr>
              <a:spcAft>
                <a:spcPts val="1000"/>
              </a:spcAft>
              <a:defRPr sz="2000"/>
            </a:pPr>
            <a:r>
              <a:t>Churn Rate by Trial Status</a:t>
            </a:r>
          </a:p>
          <a:p>
            <a:pPr>
              <a:spcAft>
                <a:spcPts val="1000"/>
              </a:spcAft>
              <a:defRPr sz="2000"/>
            </a:pPr>
            <a:r>
              <a:t>Churn Rate by Subscription Plan</a:t>
            </a:r>
          </a:p>
          <a:p>
            <a:pPr>
              <a:spcAft>
                <a:spcPts val="1000"/>
              </a:spcAft>
              <a:defRPr sz="2000"/>
            </a:pPr>
            <a:r>
              <a:t>Churn Rate by Referral Source</a:t>
            </a:r>
          </a:p>
          <a:p>
            <a:pPr>
              <a:spcAft>
                <a:spcPts val="1000"/>
              </a:spcAft>
              <a:defRPr sz="2000"/>
            </a:pPr>
            <a:r>
              <a:t>Support Tickets by Priority</a:t>
            </a:r>
          </a:p>
          <a:p>
            <a:pPr>
              <a:spcAft>
                <a:spcPts val="1000"/>
              </a:spcAft>
              <a:defRPr sz="2000"/>
            </a:pPr>
            <a:r>
              <a:t>Support Tickets by Escalation 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Dashboard Preview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94C466-FFD0-1F96-A396-6476672B4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563358"/>
            <a:ext cx="6903720" cy="60203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Overall customer churn rate is 22%.</a:t>
            </a:r>
          </a:p>
          <a:p>
            <a:pPr>
              <a:spcAft>
                <a:spcPts val="1000"/>
              </a:spcAft>
              <a:defRPr sz="1800"/>
            </a:pPr>
            <a:r>
              <a:t>DevTools has the highest displayed industry churn rate.</a:t>
            </a:r>
          </a:p>
          <a:p>
            <a:pPr>
              <a:spcAft>
                <a:spcPts val="1000"/>
              </a:spcAft>
              <a:defRPr sz="1800"/>
            </a:pPr>
            <a:r>
              <a:t>Germany has the highest displayed country churn rate.</a:t>
            </a:r>
          </a:p>
          <a:p>
            <a:pPr>
              <a:spcAft>
                <a:spcPts val="1000"/>
              </a:spcAft>
              <a:defRPr sz="1800"/>
            </a:pPr>
            <a:r>
              <a:t>Trial customers show higher churn than non-trial customers.</a:t>
            </a:r>
          </a:p>
          <a:p>
            <a:pPr>
              <a:spcAft>
                <a:spcPts val="1000"/>
              </a:spcAft>
              <a:defRPr sz="1800"/>
            </a:pPr>
            <a:r>
              <a:t>Features is the leading churn reason with 114 events.</a:t>
            </a:r>
          </a:p>
          <a:p>
            <a:pPr>
              <a:spcAft>
                <a:spcPts val="1000"/>
              </a:spcAft>
              <a:defRPr sz="1800"/>
            </a:pPr>
            <a:r>
              <a:t>The highest refund amount is 1,905.90 for Features.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Support &amp; Churn Event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2,000 support tickets were analyzed.</a:t>
            </a:r>
          </a:p>
          <a:p>
            <a:pPr>
              <a:spcAft>
                <a:spcPts val="1000"/>
              </a:spcAft>
              <a:defRPr sz="1800"/>
            </a:pPr>
            <a:r>
              <a:t>Average resolution time: 35.86.</a:t>
            </a:r>
          </a:p>
          <a:p>
            <a:pPr>
              <a:spcAft>
                <a:spcPts val="1000"/>
              </a:spcAft>
              <a:defRPr sz="1800"/>
            </a:pPr>
            <a:r>
              <a:t>Average first response time: 88.48.</a:t>
            </a:r>
          </a:p>
          <a:p>
            <a:pPr>
              <a:spcAft>
                <a:spcPts val="1000"/>
              </a:spcAft>
              <a:defRPr sz="1800"/>
            </a:pPr>
            <a:r>
              <a:t>Average satisfaction score: 3.98.</a:t>
            </a:r>
          </a:p>
          <a:p>
            <a:pPr>
              <a:spcAft>
                <a:spcPts val="1000"/>
              </a:spcAft>
              <a:defRPr sz="1800"/>
            </a:pPr>
            <a:r>
              <a:t>95 tickets were escalated; escalation rate ≈ 4.75%.</a:t>
            </a:r>
          </a:p>
          <a:p>
            <a:pPr>
              <a:spcAft>
                <a:spcPts val="1000"/>
              </a:spcAft>
              <a:defRPr sz="1800"/>
            </a:pPr>
            <a:r>
              <a:t>600 churn events and 8,652.25 total refunds were recorded.</a:t>
            </a:r>
          </a:p>
          <a:p>
            <a:pPr>
              <a:spcAft>
                <a:spcPts val="1000"/>
              </a:spcAft>
              <a:defRPr sz="1800"/>
            </a:pPr>
            <a:r>
              <a:t>123 events followed an upgrade flag; 53 followed a downgrade flag.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Business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Churn should be monitored at both overall and segment levels.</a:t>
            </a:r>
          </a:p>
          <a:p>
            <a:pPr>
              <a:spcAft>
                <a:spcPts val="1000"/>
              </a:spcAft>
              <a:defRPr sz="1800"/>
            </a:pPr>
            <a:r>
              <a:t>Higher-churn segments can be prioritized for retention analysis.</a:t>
            </a:r>
          </a:p>
          <a:p>
            <a:pPr>
              <a:spcAft>
                <a:spcPts val="1000"/>
              </a:spcAft>
              <a:defRPr sz="1800"/>
            </a:pPr>
            <a:r>
              <a:t>Features-related churn suggests an opportunity to investigate product capabilities and customer expectations.</a:t>
            </a:r>
          </a:p>
          <a:p>
            <a:pPr>
              <a:spcAft>
                <a:spcPts val="1000"/>
              </a:spcAft>
              <a:defRPr sz="1800"/>
            </a:pPr>
            <a:r>
              <a:t>Support metrics provide additional customer-experience context.</a:t>
            </a:r>
          </a:p>
          <a:p>
            <a:pPr>
              <a:spcAft>
                <a:spcPts val="1000"/>
              </a:spcAft>
              <a:defRPr sz="1800"/>
            </a:pPr>
            <a:r>
              <a:t>The dashboard is a starting point for deeper retention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Limitations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Current analysis is descriptive rather than causal.</a:t>
            </a:r>
          </a:p>
          <a:p>
            <a:pPr>
              <a:spcAft>
                <a:spcPts val="1000"/>
              </a:spcAft>
              <a:defRPr sz="1800"/>
            </a:pPr>
            <a:r>
              <a:t>Build a Power BI version with slicers and drill-through.</a:t>
            </a:r>
          </a:p>
          <a:p>
            <a:pPr>
              <a:spcAft>
                <a:spcPts val="1000"/>
              </a:spcAft>
              <a:defRPr sz="1800"/>
            </a:pPr>
            <a:r>
              <a:t>Use SQL/Python for automated data preparation.</a:t>
            </a:r>
          </a:p>
          <a:p>
            <a:pPr>
              <a:spcAft>
                <a:spcPts val="1000"/>
              </a:spcAft>
              <a:defRPr sz="1800"/>
            </a:pPr>
            <a:r>
              <a:t>Develop a machine-learning churn prediction model.</a:t>
            </a:r>
          </a:p>
          <a:p>
            <a:pPr>
              <a:spcAft>
                <a:spcPts val="1000"/>
              </a:spcAft>
              <a:defRPr sz="1800"/>
            </a:pPr>
            <a:r>
              <a:t>Add time-series churn and revenue trends.</a:t>
            </a:r>
          </a:p>
          <a:p>
            <a:pPr>
              <a:spcAft>
                <a:spcPts val="1000"/>
              </a:spcAft>
              <a:defRPr sz="1800"/>
            </a:pPr>
            <a:r>
              <a:t>Perform statistical testing to validate potential churn drivers.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The project demonstrates an end-to-end Excel customer churn analytics workflow.</a:t>
            </a:r>
          </a:p>
          <a:p>
            <a:pPr>
              <a:spcAft>
                <a:spcPts val="1000"/>
              </a:spcAft>
              <a:defRPr sz="1800"/>
            </a:pPr>
            <a:r>
              <a:t>It combines KPI calculation, segmentation, support analysis, churn-event analysis, and visualization.</a:t>
            </a:r>
          </a:p>
          <a:p>
            <a:pPr>
              <a:spcAft>
                <a:spcPts val="1000"/>
              </a:spcAft>
              <a:defRPr sz="1800"/>
            </a:pPr>
            <a:r>
              <a:t>The final dashboard provides a concise business view of customer churn and related performance.</a:t>
            </a:r>
          </a:p>
          <a:p>
            <a:pPr>
              <a:spcAft>
                <a:spcPts val="1000"/>
              </a:spcAft>
              <a:defRPr sz="1800"/>
            </a:pPr>
            <a:r>
              <a:t>The project can be extended into Power BI, SQL, Python, and machine-learning 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/>
            </a:pPr>
            <a:r>
              <a:t>Vijay Kumar A G</a:t>
            </a:r>
          </a:p>
          <a:p>
            <a:pPr>
              <a:spcAft>
                <a:spcPts val="1000"/>
              </a:spcAft>
              <a:defRPr sz="2400"/>
            </a:pPr>
            <a:r>
              <a:t>Customer Churn Analysis &amp;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487</Words>
  <Application>Microsoft Office PowerPoint</Application>
  <PresentationFormat>Widescreen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VIJAY KUMAR A G</cp:lastModifiedBy>
  <cp:revision>2</cp:revision>
  <dcterms:created xsi:type="dcterms:W3CDTF">2013-01-27T09:14:16Z</dcterms:created>
  <dcterms:modified xsi:type="dcterms:W3CDTF">2026-08-14T11:48:01Z</dcterms:modified>
  <cp:category/>
</cp:coreProperties>
</file>